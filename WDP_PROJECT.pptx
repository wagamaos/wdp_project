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Anton" panose="020F0502020204030204" pitchFamily="2" charset="0"/>
      <p:regular r:id="rId13"/>
    </p:embeddedFont>
    <p:embeddedFont>
      <p:font typeface="Lato" panose="020F0502020204030204" pitchFamily="34" charset="0"/>
      <p:regular r:id="rId14"/>
    </p:embeddedFont>
    <p:embeddedFont>
      <p:font typeface="Lato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5" d="100"/>
          <a:sy n="45" d="100"/>
        </p:scale>
        <p:origin x="620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4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941520">
            <a:off x="11322283" y="803563"/>
            <a:ext cx="7754479" cy="9951581"/>
          </a:xfrm>
          <a:custGeom>
            <a:avLst/>
            <a:gdLst/>
            <a:ahLst/>
            <a:cxnLst/>
            <a:rect l="l" t="t" r="r" b="b"/>
            <a:pathLst>
              <a:path w="7754479" h="9951581">
                <a:moveTo>
                  <a:pt x="0" y="0"/>
                </a:moveTo>
                <a:lnTo>
                  <a:pt x="7754479" y="0"/>
                </a:lnTo>
                <a:lnTo>
                  <a:pt x="7754479" y="9951581"/>
                </a:lnTo>
                <a:lnTo>
                  <a:pt x="0" y="99515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3" name="AutoShape 3"/>
          <p:cNvSpPr/>
          <p:nvPr/>
        </p:nvSpPr>
        <p:spPr>
          <a:xfrm flipV="1">
            <a:off x="1042819" y="9248775"/>
            <a:ext cx="16216481" cy="0"/>
          </a:xfrm>
          <a:prstGeom prst="line">
            <a:avLst/>
          </a:prstGeom>
          <a:ln w="28575" cap="flat">
            <a:solidFill>
              <a:srgbClr val="2D1C2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SG"/>
          </a:p>
        </p:txBody>
      </p:sp>
      <p:sp>
        <p:nvSpPr>
          <p:cNvPr id="4" name="Freeform 4"/>
          <p:cNvSpPr/>
          <p:nvPr/>
        </p:nvSpPr>
        <p:spPr>
          <a:xfrm>
            <a:off x="-3588392" y="-3290807"/>
            <a:ext cx="11717217" cy="11035983"/>
          </a:xfrm>
          <a:custGeom>
            <a:avLst/>
            <a:gdLst/>
            <a:ahLst/>
            <a:cxnLst/>
            <a:rect l="l" t="t" r="r" b="b"/>
            <a:pathLst>
              <a:path w="11717217" h="11035983">
                <a:moveTo>
                  <a:pt x="0" y="0"/>
                </a:moveTo>
                <a:lnTo>
                  <a:pt x="11717217" y="0"/>
                </a:lnTo>
                <a:lnTo>
                  <a:pt x="11717217" y="11035983"/>
                </a:lnTo>
                <a:lnTo>
                  <a:pt x="0" y="1103598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5" name="TextBox 5"/>
          <p:cNvSpPr txBox="1"/>
          <p:nvPr/>
        </p:nvSpPr>
        <p:spPr>
          <a:xfrm>
            <a:off x="4502678" y="3301863"/>
            <a:ext cx="9282644" cy="3873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490"/>
              </a:lnSpc>
            </a:pPr>
            <a:r>
              <a:rPr lang="en-US" sz="17250" spc="-86">
                <a:solidFill>
                  <a:srgbClr val="2D1C2C"/>
                </a:solidFill>
                <a:latin typeface="Anton"/>
                <a:ea typeface="Anton"/>
                <a:cs typeface="Anton"/>
                <a:sym typeface="Anton"/>
              </a:rPr>
              <a:t>Project Proposal</a:t>
            </a:r>
          </a:p>
        </p:txBody>
      </p:sp>
      <p:sp>
        <p:nvSpPr>
          <p:cNvPr id="6" name="Freeform 6"/>
          <p:cNvSpPr/>
          <p:nvPr/>
        </p:nvSpPr>
        <p:spPr>
          <a:xfrm>
            <a:off x="1028700" y="8240910"/>
            <a:ext cx="1485268" cy="742634"/>
          </a:xfrm>
          <a:custGeom>
            <a:avLst/>
            <a:gdLst/>
            <a:ahLst/>
            <a:cxnLst/>
            <a:rect l="l" t="t" r="r" b="b"/>
            <a:pathLst>
              <a:path w="1485268" h="742634">
                <a:moveTo>
                  <a:pt x="0" y="0"/>
                </a:moveTo>
                <a:lnTo>
                  <a:pt x="1485268" y="0"/>
                </a:lnTo>
                <a:lnTo>
                  <a:pt x="1485268" y="742634"/>
                </a:lnTo>
                <a:lnTo>
                  <a:pt x="0" y="7426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7" name="TextBox 7"/>
          <p:cNvSpPr txBox="1"/>
          <p:nvPr/>
        </p:nvSpPr>
        <p:spPr>
          <a:xfrm>
            <a:off x="4027263" y="7232272"/>
            <a:ext cx="10233475" cy="611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21"/>
              </a:lnSpc>
              <a:spcBef>
                <a:spcPct val="0"/>
              </a:spcBef>
            </a:pPr>
            <a:r>
              <a:rPr lang="en-US" sz="3515" b="1" spc="277">
                <a:solidFill>
                  <a:srgbClr val="2D1C2C"/>
                </a:solidFill>
                <a:latin typeface="Lato Bold"/>
                <a:ea typeface="Lato Bold"/>
                <a:cs typeface="Lato Bold"/>
                <a:sym typeface="Lato Bold"/>
              </a:rPr>
              <a:t>Presented by </a:t>
            </a:r>
          </a:p>
        </p:txBody>
      </p:sp>
      <p:sp>
        <p:nvSpPr>
          <p:cNvPr id="8" name="Freeform 8"/>
          <p:cNvSpPr/>
          <p:nvPr/>
        </p:nvSpPr>
        <p:spPr>
          <a:xfrm>
            <a:off x="15774032" y="1028700"/>
            <a:ext cx="1485268" cy="742634"/>
          </a:xfrm>
          <a:custGeom>
            <a:avLst/>
            <a:gdLst/>
            <a:ahLst/>
            <a:cxnLst/>
            <a:rect l="l" t="t" r="r" b="b"/>
            <a:pathLst>
              <a:path w="1485268" h="742634">
                <a:moveTo>
                  <a:pt x="0" y="0"/>
                </a:moveTo>
                <a:lnTo>
                  <a:pt x="1485268" y="0"/>
                </a:lnTo>
                <a:lnTo>
                  <a:pt x="1485268" y="742634"/>
                </a:lnTo>
                <a:lnTo>
                  <a:pt x="0" y="7426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pic>
        <p:nvPicPr>
          <p:cNvPr id="11" name="Video 10">
            <a:hlinkClick r:id="" action="ppaction://media"/>
            <a:extLst>
              <a:ext uri="{FF2B5EF4-FFF2-40B4-BE49-F238E27FC236}">
                <a16:creationId xmlns:a16="http://schemas.microsoft.com/office/drawing/2014/main" id="{6DA98B69-C7B9-74A6-F611-547C3A83DB1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  <p:ext uri="{42D2F446-02D8-4167-A562-619A0277C38B}">
                <p15:isNarration xmlns:p15="http://schemas.microsoft.com/office/powerpoint/2012/main" val="1"/>
              </p:ext>
            </p:extLst>
          </p:nvPr>
        </p:nvPicPr>
        <p:blipFill>
          <a:blip r:embed="rId7"/>
          <a:srcRect l="21875" r="21875"/>
          <a:stretch>
            <a:fillRect/>
          </a:stretch>
        </p:blipFill>
        <p:spPr>
          <a:xfrm>
            <a:off x="15078456" y="7077456"/>
            <a:ext cx="3086100" cy="30861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439"/>
    </mc:Choice>
    <mc:Fallback>
      <p:transition spd="slow" advTm="543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24797" y="4911570"/>
            <a:ext cx="9406119" cy="6696148"/>
            <a:chOff x="0" y="0"/>
            <a:chExt cx="1457254" cy="103740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57254" cy="1037408"/>
            </a:xfrm>
            <a:custGeom>
              <a:avLst/>
              <a:gdLst/>
              <a:ahLst/>
              <a:cxnLst/>
              <a:rect l="l" t="t" r="r" b="b"/>
              <a:pathLst>
                <a:path w="1457254" h="1037408">
                  <a:moveTo>
                    <a:pt x="18931" y="0"/>
                  </a:moveTo>
                  <a:lnTo>
                    <a:pt x="1438323" y="0"/>
                  </a:lnTo>
                  <a:cubicBezTo>
                    <a:pt x="1448778" y="0"/>
                    <a:pt x="1457254" y="8476"/>
                    <a:pt x="1457254" y="18931"/>
                  </a:cubicBezTo>
                  <a:lnTo>
                    <a:pt x="1457254" y="1018478"/>
                  </a:lnTo>
                  <a:cubicBezTo>
                    <a:pt x="1457254" y="1023499"/>
                    <a:pt x="1455259" y="1028314"/>
                    <a:pt x="1451709" y="1031864"/>
                  </a:cubicBezTo>
                  <a:cubicBezTo>
                    <a:pt x="1448159" y="1035414"/>
                    <a:pt x="1443344" y="1037408"/>
                    <a:pt x="1438323" y="1037408"/>
                  </a:cubicBezTo>
                  <a:lnTo>
                    <a:pt x="18931" y="1037408"/>
                  </a:lnTo>
                  <a:cubicBezTo>
                    <a:pt x="13910" y="1037408"/>
                    <a:pt x="9095" y="1035414"/>
                    <a:pt x="5545" y="1031864"/>
                  </a:cubicBezTo>
                  <a:cubicBezTo>
                    <a:pt x="1994" y="1028314"/>
                    <a:pt x="0" y="1023499"/>
                    <a:pt x="0" y="1018478"/>
                  </a:cubicBezTo>
                  <a:lnTo>
                    <a:pt x="0" y="18931"/>
                  </a:lnTo>
                  <a:cubicBezTo>
                    <a:pt x="0" y="13910"/>
                    <a:pt x="1994" y="9095"/>
                    <a:pt x="5545" y="5545"/>
                  </a:cubicBezTo>
                  <a:cubicBezTo>
                    <a:pt x="9095" y="1994"/>
                    <a:pt x="13910" y="0"/>
                    <a:pt x="18931" y="0"/>
                  </a:cubicBezTo>
                  <a:close/>
                </a:path>
              </a:pathLst>
            </a:custGeom>
            <a:blipFill>
              <a:blip r:embed="rId2"/>
              <a:stretch>
                <a:fillRect t="-2612" b="-2612"/>
              </a:stretch>
            </a:blipFill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4" name="Freeform 4"/>
          <p:cNvSpPr/>
          <p:nvPr/>
        </p:nvSpPr>
        <p:spPr>
          <a:xfrm rot="-6751984" flipV="1">
            <a:off x="12033015" y="-2865493"/>
            <a:ext cx="4154239" cy="8229600"/>
          </a:xfrm>
          <a:custGeom>
            <a:avLst/>
            <a:gdLst/>
            <a:ahLst/>
            <a:cxnLst/>
            <a:rect l="l" t="t" r="r" b="b"/>
            <a:pathLst>
              <a:path w="4154239" h="8229600">
                <a:moveTo>
                  <a:pt x="0" y="8229600"/>
                </a:moveTo>
                <a:lnTo>
                  <a:pt x="4154239" y="8229600"/>
                </a:lnTo>
                <a:lnTo>
                  <a:pt x="4154239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5" name="Freeform 5"/>
          <p:cNvSpPr/>
          <p:nvPr/>
        </p:nvSpPr>
        <p:spPr>
          <a:xfrm rot="5400000">
            <a:off x="16075228" y="2558149"/>
            <a:ext cx="1749569" cy="496241"/>
          </a:xfrm>
          <a:custGeom>
            <a:avLst/>
            <a:gdLst/>
            <a:ahLst/>
            <a:cxnLst/>
            <a:rect l="l" t="t" r="r" b="b"/>
            <a:pathLst>
              <a:path w="1749569" h="496241">
                <a:moveTo>
                  <a:pt x="0" y="0"/>
                </a:moveTo>
                <a:lnTo>
                  <a:pt x="1749570" y="0"/>
                </a:lnTo>
                <a:lnTo>
                  <a:pt x="1749570" y="496241"/>
                </a:lnTo>
                <a:lnTo>
                  <a:pt x="0" y="4962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6" name="TextBox 6"/>
          <p:cNvSpPr txBox="1"/>
          <p:nvPr/>
        </p:nvSpPr>
        <p:spPr>
          <a:xfrm>
            <a:off x="408508" y="2163814"/>
            <a:ext cx="8620959" cy="1133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5000" spc="-25">
                <a:solidFill>
                  <a:srgbClr val="2D1C2C"/>
                </a:solidFill>
                <a:latin typeface="Anton"/>
                <a:ea typeface="Anton"/>
                <a:cs typeface="Anton"/>
                <a:sym typeface="Anton"/>
              </a:rPr>
              <a:t>Project Background : Starting a New Chapter in a New Country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39999" y="4430638"/>
            <a:ext cx="6539860" cy="4597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6"/>
              </a:lnSpc>
            </a:pPr>
            <a:r>
              <a:rPr lang="en-US" sz="2368" spc="187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International students face the challenge of adapting to a new academic environment, unfamiliar services and a different culture while building a life away from home.</a:t>
            </a:r>
          </a:p>
          <a:p>
            <a:pPr algn="l">
              <a:lnSpc>
                <a:spcPts val="3316"/>
              </a:lnSpc>
            </a:pPr>
            <a:endParaRPr lang="en-US" sz="2368" spc="187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511450" lvl="1" indent="-255725" algn="l">
              <a:lnSpc>
                <a:spcPts val="3316"/>
              </a:lnSpc>
              <a:buFont typeface="Arial"/>
              <a:buChar char="•"/>
            </a:pPr>
            <a:r>
              <a:rPr lang="en-US" sz="2368" spc="187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Academic adjustment</a:t>
            </a:r>
          </a:p>
          <a:p>
            <a:pPr marL="511450" lvl="1" indent="-255725" algn="l">
              <a:lnSpc>
                <a:spcPts val="3316"/>
              </a:lnSpc>
              <a:buFont typeface="Arial"/>
              <a:buChar char="•"/>
            </a:pPr>
            <a:r>
              <a:rPr lang="en-US" sz="2368" spc="187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Daily life and essential services</a:t>
            </a:r>
          </a:p>
          <a:p>
            <a:pPr marL="511450" lvl="1" indent="-255725" algn="l">
              <a:lnSpc>
                <a:spcPts val="3316"/>
              </a:lnSpc>
              <a:buFont typeface="Arial"/>
              <a:buChar char="•"/>
            </a:pPr>
            <a:r>
              <a:rPr lang="en-US" sz="2368" spc="187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Social connections and cultural integration</a:t>
            </a:r>
          </a:p>
          <a:p>
            <a:pPr algn="l">
              <a:lnSpc>
                <a:spcPts val="3316"/>
              </a:lnSpc>
              <a:spcBef>
                <a:spcPct val="0"/>
              </a:spcBef>
            </a:pPr>
            <a:endParaRPr lang="en-US" sz="2368" spc="187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079658">
            <a:off x="-1625806" y="2283768"/>
            <a:ext cx="7817564" cy="10727361"/>
          </a:xfrm>
          <a:custGeom>
            <a:avLst/>
            <a:gdLst/>
            <a:ahLst/>
            <a:cxnLst/>
            <a:rect l="l" t="t" r="r" b="b"/>
            <a:pathLst>
              <a:path w="7817564" h="10727361">
                <a:moveTo>
                  <a:pt x="0" y="0"/>
                </a:moveTo>
                <a:lnTo>
                  <a:pt x="7817564" y="0"/>
                </a:lnTo>
                <a:lnTo>
                  <a:pt x="7817564" y="10727361"/>
                </a:lnTo>
                <a:lnTo>
                  <a:pt x="0" y="107273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3" name="TextBox 3"/>
          <p:cNvSpPr txBox="1"/>
          <p:nvPr/>
        </p:nvSpPr>
        <p:spPr>
          <a:xfrm>
            <a:off x="774659" y="1190625"/>
            <a:ext cx="7324000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5000" spc="-25">
                <a:solidFill>
                  <a:srgbClr val="2D1C2C"/>
                </a:solidFill>
                <a:latin typeface="Anton"/>
                <a:ea typeface="Anton"/>
                <a:cs typeface="Anton"/>
                <a:sym typeface="Anton"/>
              </a:rPr>
              <a:t>The problem</a:t>
            </a:r>
          </a:p>
        </p:txBody>
      </p:sp>
      <p:sp>
        <p:nvSpPr>
          <p:cNvPr id="4" name="Freeform 4"/>
          <p:cNvSpPr/>
          <p:nvPr/>
        </p:nvSpPr>
        <p:spPr>
          <a:xfrm>
            <a:off x="16005825" y="1028700"/>
            <a:ext cx="1485268" cy="742634"/>
          </a:xfrm>
          <a:custGeom>
            <a:avLst/>
            <a:gdLst/>
            <a:ahLst/>
            <a:cxnLst/>
            <a:rect l="l" t="t" r="r" b="b"/>
            <a:pathLst>
              <a:path w="1485268" h="742634">
                <a:moveTo>
                  <a:pt x="0" y="0"/>
                </a:moveTo>
                <a:lnTo>
                  <a:pt x="1485268" y="0"/>
                </a:lnTo>
                <a:lnTo>
                  <a:pt x="1485268" y="742634"/>
                </a:lnTo>
                <a:lnTo>
                  <a:pt x="0" y="7426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grpSp>
        <p:nvGrpSpPr>
          <p:cNvPr id="5" name="Group 5"/>
          <p:cNvGrpSpPr/>
          <p:nvPr/>
        </p:nvGrpSpPr>
        <p:grpSpPr>
          <a:xfrm>
            <a:off x="1254230" y="2853888"/>
            <a:ext cx="16005070" cy="1738034"/>
            <a:chOff x="0" y="0"/>
            <a:chExt cx="4215327" cy="45775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215327" cy="457754"/>
            </a:xfrm>
            <a:custGeom>
              <a:avLst/>
              <a:gdLst/>
              <a:ahLst/>
              <a:cxnLst/>
              <a:rect l="l" t="t" r="r" b="b"/>
              <a:pathLst>
                <a:path w="4215327" h="457754">
                  <a:moveTo>
                    <a:pt x="8223" y="0"/>
                  </a:moveTo>
                  <a:lnTo>
                    <a:pt x="4207104" y="0"/>
                  </a:lnTo>
                  <a:cubicBezTo>
                    <a:pt x="4209285" y="0"/>
                    <a:pt x="4211377" y="866"/>
                    <a:pt x="4212919" y="2409"/>
                  </a:cubicBezTo>
                  <a:cubicBezTo>
                    <a:pt x="4214461" y="3951"/>
                    <a:pt x="4215327" y="6042"/>
                    <a:pt x="4215327" y="8223"/>
                  </a:cubicBezTo>
                  <a:lnTo>
                    <a:pt x="4215327" y="449531"/>
                  </a:lnTo>
                  <a:cubicBezTo>
                    <a:pt x="4215327" y="451711"/>
                    <a:pt x="4214461" y="453803"/>
                    <a:pt x="4212919" y="455345"/>
                  </a:cubicBezTo>
                  <a:cubicBezTo>
                    <a:pt x="4211377" y="456887"/>
                    <a:pt x="4209285" y="457754"/>
                    <a:pt x="4207104" y="457754"/>
                  </a:cubicBezTo>
                  <a:lnTo>
                    <a:pt x="8223" y="457754"/>
                  </a:lnTo>
                  <a:cubicBezTo>
                    <a:pt x="6042" y="457754"/>
                    <a:pt x="3951" y="456887"/>
                    <a:pt x="2409" y="455345"/>
                  </a:cubicBezTo>
                  <a:cubicBezTo>
                    <a:pt x="866" y="453803"/>
                    <a:pt x="0" y="451711"/>
                    <a:pt x="0" y="449531"/>
                  </a:cubicBezTo>
                  <a:lnTo>
                    <a:pt x="0" y="8223"/>
                  </a:lnTo>
                  <a:cubicBezTo>
                    <a:pt x="0" y="6042"/>
                    <a:pt x="866" y="3951"/>
                    <a:pt x="2409" y="2409"/>
                  </a:cubicBezTo>
                  <a:cubicBezTo>
                    <a:pt x="3951" y="866"/>
                    <a:pt x="6042" y="0"/>
                    <a:pt x="8223" y="0"/>
                  </a:cubicBezTo>
                  <a:close/>
                </a:path>
              </a:pathLst>
            </a:custGeom>
            <a:solidFill>
              <a:srgbClr val="F5EFF4"/>
            </a:solidFill>
          </p:spPr>
          <p:txBody>
            <a:bodyPr/>
            <a:lstStyle/>
            <a:p>
              <a:endParaRPr lang="en-SG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215327" cy="4958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254230" y="2422088"/>
            <a:ext cx="7674547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 b="1" spc="197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1. SCATTERED AND LIMITED INFORMATION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01200" y="3268485"/>
            <a:ext cx="15511130" cy="861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6"/>
              </a:lnSpc>
              <a:spcBef>
                <a:spcPct val="0"/>
              </a:spcBef>
            </a:pPr>
            <a:r>
              <a:rPr lang="en-US" sz="2468" spc="195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Answers are spread across group chats, websites and online forums. Students at less well-known universities may find it even harder to access relevant campus-specific information. 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237329" y="5280460"/>
            <a:ext cx="16005070" cy="1738034"/>
            <a:chOff x="0" y="0"/>
            <a:chExt cx="4215327" cy="45775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215327" cy="457754"/>
            </a:xfrm>
            <a:custGeom>
              <a:avLst/>
              <a:gdLst/>
              <a:ahLst/>
              <a:cxnLst/>
              <a:rect l="l" t="t" r="r" b="b"/>
              <a:pathLst>
                <a:path w="4215327" h="457754">
                  <a:moveTo>
                    <a:pt x="8223" y="0"/>
                  </a:moveTo>
                  <a:lnTo>
                    <a:pt x="4207104" y="0"/>
                  </a:lnTo>
                  <a:cubicBezTo>
                    <a:pt x="4209285" y="0"/>
                    <a:pt x="4211377" y="866"/>
                    <a:pt x="4212919" y="2409"/>
                  </a:cubicBezTo>
                  <a:cubicBezTo>
                    <a:pt x="4214461" y="3951"/>
                    <a:pt x="4215327" y="6042"/>
                    <a:pt x="4215327" y="8223"/>
                  </a:cubicBezTo>
                  <a:lnTo>
                    <a:pt x="4215327" y="449531"/>
                  </a:lnTo>
                  <a:cubicBezTo>
                    <a:pt x="4215327" y="451711"/>
                    <a:pt x="4214461" y="453803"/>
                    <a:pt x="4212919" y="455345"/>
                  </a:cubicBezTo>
                  <a:cubicBezTo>
                    <a:pt x="4211377" y="456887"/>
                    <a:pt x="4209285" y="457754"/>
                    <a:pt x="4207104" y="457754"/>
                  </a:cubicBezTo>
                  <a:lnTo>
                    <a:pt x="8223" y="457754"/>
                  </a:lnTo>
                  <a:cubicBezTo>
                    <a:pt x="6042" y="457754"/>
                    <a:pt x="3951" y="456887"/>
                    <a:pt x="2409" y="455345"/>
                  </a:cubicBezTo>
                  <a:cubicBezTo>
                    <a:pt x="866" y="453803"/>
                    <a:pt x="0" y="451711"/>
                    <a:pt x="0" y="449531"/>
                  </a:cubicBezTo>
                  <a:lnTo>
                    <a:pt x="0" y="8223"/>
                  </a:lnTo>
                  <a:cubicBezTo>
                    <a:pt x="0" y="6042"/>
                    <a:pt x="866" y="3951"/>
                    <a:pt x="2409" y="2409"/>
                  </a:cubicBezTo>
                  <a:cubicBezTo>
                    <a:pt x="3951" y="866"/>
                    <a:pt x="6042" y="0"/>
                    <a:pt x="8223" y="0"/>
                  </a:cubicBezTo>
                  <a:close/>
                </a:path>
              </a:pathLst>
            </a:custGeom>
            <a:solidFill>
              <a:srgbClr val="ECD0E7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4215327" cy="4958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237329" y="4899025"/>
            <a:ext cx="9311485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 b="1" spc="197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2. UNFAMILIAR LOCAL SERVICES AND ENVIRONMENT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84299" y="5695057"/>
            <a:ext cx="15511130" cy="861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6"/>
              </a:lnSpc>
              <a:spcBef>
                <a:spcPct val="0"/>
              </a:spcBef>
            </a:pPr>
            <a:r>
              <a:rPr lang="en-US" sz="2468" spc="195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Students may not know where to find everyday services, such as nearby printing shops, affordable groceries or essential facilities in their new surroundings.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237329" y="7739341"/>
            <a:ext cx="16005070" cy="1738034"/>
            <a:chOff x="0" y="0"/>
            <a:chExt cx="4215327" cy="45775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215327" cy="457754"/>
            </a:xfrm>
            <a:custGeom>
              <a:avLst/>
              <a:gdLst/>
              <a:ahLst/>
              <a:cxnLst/>
              <a:rect l="l" t="t" r="r" b="b"/>
              <a:pathLst>
                <a:path w="4215327" h="457754">
                  <a:moveTo>
                    <a:pt x="8223" y="0"/>
                  </a:moveTo>
                  <a:lnTo>
                    <a:pt x="4207104" y="0"/>
                  </a:lnTo>
                  <a:cubicBezTo>
                    <a:pt x="4209285" y="0"/>
                    <a:pt x="4211377" y="866"/>
                    <a:pt x="4212919" y="2409"/>
                  </a:cubicBezTo>
                  <a:cubicBezTo>
                    <a:pt x="4214461" y="3951"/>
                    <a:pt x="4215327" y="6042"/>
                    <a:pt x="4215327" y="8223"/>
                  </a:cubicBezTo>
                  <a:lnTo>
                    <a:pt x="4215327" y="449531"/>
                  </a:lnTo>
                  <a:cubicBezTo>
                    <a:pt x="4215327" y="451711"/>
                    <a:pt x="4214461" y="453803"/>
                    <a:pt x="4212919" y="455345"/>
                  </a:cubicBezTo>
                  <a:cubicBezTo>
                    <a:pt x="4211377" y="456887"/>
                    <a:pt x="4209285" y="457754"/>
                    <a:pt x="4207104" y="457754"/>
                  </a:cubicBezTo>
                  <a:lnTo>
                    <a:pt x="8223" y="457754"/>
                  </a:lnTo>
                  <a:cubicBezTo>
                    <a:pt x="6042" y="457754"/>
                    <a:pt x="3951" y="456887"/>
                    <a:pt x="2409" y="455345"/>
                  </a:cubicBezTo>
                  <a:cubicBezTo>
                    <a:pt x="866" y="453803"/>
                    <a:pt x="0" y="451711"/>
                    <a:pt x="0" y="449531"/>
                  </a:cubicBezTo>
                  <a:lnTo>
                    <a:pt x="0" y="8223"/>
                  </a:lnTo>
                  <a:cubicBezTo>
                    <a:pt x="0" y="6042"/>
                    <a:pt x="866" y="3951"/>
                    <a:pt x="2409" y="2409"/>
                  </a:cubicBezTo>
                  <a:cubicBezTo>
                    <a:pt x="3951" y="866"/>
                    <a:pt x="6042" y="0"/>
                    <a:pt x="8223" y="0"/>
                  </a:cubicBezTo>
                  <a:close/>
                </a:path>
              </a:pathLst>
            </a:custGeom>
            <a:solidFill>
              <a:srgbClr val="E7B7DF"/>
            </a:solidFill>
          </p:spPr>
          <p:txBody>
            <a:bodyPr/>
            <a:lstStyle/>
            <a:p>
              <a:endParaRPr lang="en-SG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4215327" cy="4958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237329" y="7323294"/>
            <a:ext cx="7321482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 b="1" spc="197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3. UNCLEAR ADMINISTRATIVE PROCESSES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84299" y="8153938"/>
            <a:ext cx="15511130" cy="861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6"/>
              </a:lnSpc>
              <a:spcBef>
                <a:spcPct val="0"/>
              </a:spcBef>
            </a:pPr>
            <a:r>
              <a:rPr lang="en-US" sz="2468" spc="195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Unfamiliar procedures, such as registering an address, applying for permits or arranging student documentation, can be confusing without clear guidance.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57322" y="1950473"/>
            <a:ext cx="12074330" cy="1263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30"/>
              </a:lnSpc>
            </a:pPr>
            <a:r>
              <a:rPr lang="en-US" sz="10751" spc="-53">
                <a:solidFill>
                  <a:srgbClr val="2D1C2C"/>
                </a:solidFill>
                <a:latin typeface="Anton"/>
                <a:ea typeface="Anton"/>
                <a:cs typeface="Anton"/>
                <a:sym typeface="Anton"/>
              </a:rPr>
              <a:t>Our proposed solution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861761" y="5110816"/>
            <a:ext cx="5889268" cy="386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87"/>
              </a:lnSpc>
            </a:pPr>
            <a:r>
              <a:rPr lang="en-US" sz="2900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EXPECTED OUTCOMES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861761" y="5718790"/>
            <a:ext cx="6828517" cy="2390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6"/>
              </a:lnSpc>
              <a:spcBef>
                <a:spcPct val="0"/>
              </a:spcBef>
            </a:pPr>
            <a:r>
              <a:rPr lang="en-US" sz="2268" spc="17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Lorem ipsum dolor sit amet, consectetur adipiscing elit. Sed eget lorem ac nibh auctor euismod. Duis malesuada, mi a vehicula vehicula, quam nisl fringilla neque, vel tristique orci nisl sed diam. Ut lacinia ante in porta laoreet. </a:t>
            </a:r>
          </a:p>
        </p:txBody>
      </p:sp>
      <p:sp>
        <p:nvSpPr>
          <p:cNvPr id="5" name="Freeform 5"/>
          <p:cNvSpPr/>
          <p:nvPr/>
        </p:nvSpPr>
        <p:spPr>
          <a:xfrm rot="1480763">
            <a:off x="8133945" y="-3713560"/>
            <a:ext cx="10284150" cy="9679956"/>
          </a:xfrm>
          <a:custGeom>
            <a:avLst/>
            <a:gdLst/>
            <a:ahLst/>
            <a:cxnLst/>
            <a:rect l="l" t="t" r="r" b="b"/>
            <a:pathLst>
              <a:path w="10284150" h="9679956">
                <a:moveTo>
                  <a:pt x="0" y="0"/>
                </a:moveTo>
                <a:lnTo>
                  <a:pt x="10284150" y="0"/>
                </a:lnTo>
                <a:lnTo>
                  <a:pt x="10284150" y="9679956"/>
                </a:lnTo>
                <a:lnTo>
                  <a:pt x="0" y="96799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6" name="TextBox 6"/>
          <p:cNvSpPr txBox="1"/>
          <p:nvPr/>
        </p:nvSpPr>
        <p:spPr>
          <a:xfrm>
            <a:off x="1597721" y="5110816"/>
            <a:ext cx="3642619" cy="386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87"/>
              </a:lnSpc>
            </a:pPr>
            <a:r>
              <a:rPr lang="en-US" sz="2900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PROJECT GOALS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98323" y="5718790"/>
            <a:ext cx="6828517" cy="2390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6"/>
              </a:lnSpc>
              <a:spcBef>
                <a:spcPct val="0"/>
              </a:spcBef>
            </a:pPr>
            <a:r>
              <a:rPr lang="en-US" sz="2268" spc="17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Lorem ipsum dolor sit amet, consectetur adipiscing elit. Sed eget lorem ac nibh auctor euismod. Duis malesuada, mi a vehicula vehicula, quam nisl fringilla neque, vel tristique orci nisl sed diam. Ut lacinia ante in porta laoreet. </a:t>
            </a:r>
          </a:p>
        </p:txBody>
      </p:sp>
      <p:sp>
        <p:nvSpPr>
          <p:cNvPr id="8" name="Freeform 8"/>
          <p:cNvSpPr/>
          <p:nvPr/>
        </p:nvSpPr>
        <p:spPr>
          <a:xfrm>
            <a:off x="782537" y="9010179"/>
            <a:ext cx="1749569" cy="496241"/>
          </a:xfrm>
          <a:custGeom>
            <a:avLst/>
            <a:gdLst/>
            <a:ahLst/>
            <a:cxnLst/>
            <a:rect l="l" t="t" r="r" b="b"/>
            <a:pathLst>
              <a:path w="1749569" h="496241">
                <a:moveTo>
                  <a:pt x="0" y="0"/>
                </a:moveTo>
                <a:lnTo>
                  <a:pt x="1749569" y="0"/>
                </a:lnTo>
                <a:lnTo>
                  <a:pt x="1749569" y="496242"/>
                </a:lnTo>
                <a:lnTo>
                  <a:pt x="0" y="4962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9415" y="5470054"/>
            <a:ext cx="7324000" cy="1263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30"/>
              </a:lnSpc>
            </a:pPr>
            <a:r>
              <a:rPr lang="en-US" sz="10751" spc="-53">
                <a:solidFill>
                  <a:srgbClr val="2D1C2C"/>
                </a:solidFill>
                <a:latin typeface="Anton"/>
                <a:ea typeface="Anton"/>
                <a:cs typeface="Anton"/>
                <a:sym typeface="Anton"/>
              </a:rPr>
              <a:t>Target users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6988" y="4105717"/>
            <a:ext cx="8340564" cy="2077691"/>
            <a:chOff x="0" y="0"/>
            <a:chExt cx="2196692" cy="54721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96692" cy="547211"/>
            </a:xfrm>
            <a:custGeom>
              <a:avLst/>
              <a:gdLst/>
              <a:ahLst/>
              <a:cxnLst/>
              <a:rect l="l" t="t" r="r" b="b"/>
              <a:pathLst>
                <a:path w="2196692" h="547211">
                  <a:moveTo>
                    <a:pt x="18564" y="0"/>
                  </a:moveTo>
                  <a:lnTo>
                    <a:pt x="2178127" y="0"/>
                  </a:lnTo>
                  <a:cubicBezTo>
                    <a:pt x="2183051" y="0"/>
                    <a:pt x="2187773" y="1956"/>
                    <a:pt x="2191254" y="5437"/>
                  </a:cubicBezTo>
                  <a:cubicBezTo>
                    <a:pt x="2194736" y="8919"/>
                    <a:pt x="2196692" y="13641"/>
                    <a:pt x="2196692" y="18564"/>
                  </a:cubicBezTo>
                  <a:lnTo>
                    <a:pt x="2196692" y="528646"/>
                  </a:lnTo>
                  <a:cubicBezTo>
                    <a:pt x="2196692" y="533570"/>
                    <a:pt x="2194736" y="538292"/>
                    <a:pt x="2191254" y="541773"/>
                  </a:cubicBezTo>
                  <a:cubicBezTo>
                    <a:pt x="2187773" y="545255"/>
                    <a:pt x="2183051" y="547211"/>
                    <a:pt x="2178127" y="547211"/>
                  </a:cubicBezTo>
                  <a:lnTo>
                    <a:pt x="18564" y="547211"/>
                  </a:lnTo>
                  <a:cubicBezTo>
                    <a:pt x="13641" y="547211"/>
                    <a:pt x="8919" y="545255"/>
                    <a:pt x="5437" y="541773"/>
                  </a:cubicBezTo>
                  <a:cubicBezTo>
                    <a:pt x="1956" y="538292"/>
                    <a:pt x="0" y="533570"/>
                    <a:pt x="0" y="528646"/>
                  </a:cubicBezTo>
                  <a:lnTo>
                    <a:pt x="0" y="18564"/>
                  </a:lnTo>
                  <a:cubicBezTo>
                    <a:pt x="0" y="13641"/>
                    <a:pt x="1956" y="8919"/>
                    <a:pt x="5437" y="5437"/>
                  </a:cubicBezTo>
                  <a:cubicBezTo>
                    <a:pt x="8919" y="1956"/>
                    <a:pt x="13641" y="0"/>
                    <a:pt x="18564" y="0"/>
                  </a:cubicBezTo>
                  <a:close/>
                </a:path>
              </a:pathLst>
            </a:custGeom>
            <a:ln w="38100" cap="sq">
              <a:solidFill>
                <a:srgbClr val="2D1C2C">
                  <a:alpha val="94902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196692" cy="5853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156988" y="1728126"/>
            <a:ext cx="8340564" cy="2077691"/>
            <a:chOff x="0" y="0"/>
            <a:chExt cx="2196692" cy="54721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96692" cy="547211"/>
            </a:xfrm>
            <a:custGeom>
              <a:avLst/>
              <a:gdLst/>
              <a:ahLst/>
              <a:cxnLst/>
              <a:rect l="l" t="t" r="r" b="b"/>
              <a:pathLst>
                <a:path w="2196692" h="547211">
                  <a:moveTo>
                    <a:pt x="18564" y="0"/>
                  </a:moveTo>
                  <a:lnTo>
                    <a:pt x="2178127" y="0"/>
                  </a:lnTo>
                  <a:cubicBezTo>
                    <a:pt x="2183051" y="0"/>
                    <a:pt x="2187773" y="1956"/>
                    <a:pt x="2191254" y="5437"/>
                  </a:cubicBezTo>
                  <a:cubicBezTo>
                    <a:pt x="2194736" y="8919"/>
                    <a:pt x="2196692" y="13641"/>
                    <a:pt x="2196692" y="18564"/>
                  </a:cubicBezTo>
                  <a:lnTo>
                    <a:pt x="2196692" y="528646"/>
                  </a:lnTo>
                  <a:cubicBezTo>
                    <a:pt x="2196692" y="533570"/>
                    <a:pt x="2194736" y="538292"/>
                    <a:pt x="2191254" y="541773"/>
                  </a:cubicBezTo>
                  <a:cubicBezTo>
                    <a:pt x="2187773" y="545255"/>
                    <a:pt x="2183051" y="547211"/>
                    <a:pt x="2178127" y="547211"/>
                  </a:cubicBezTo>
                  <a:lnTo>
                    <a:pt x="18564" y="547211"/>
                  </a:lnTo>
                  <a:cubicBezTo>
                    <a:pt x="13641" y="547211"/>
                    <a:pt x="8919" y="545255"/>
                    <a:pt x="5437" y="541773"/>
                  </a:cubicBezTo>
                  <a:cubicBezTo>
                    <a:pt x="1956" y="538292"/>
                    <a:pt x="0" y="533570"/>
                    <a:pt x="0" y="528646"/>
                  </a:cubicBezTo>
                  <a:lnTo>
                    <a:pt x="0" y="18564"/>
                  </a:lnTo>
                  <a:cubicBezTo>
                    <a:pt x="0" y="13641"/>
                    <a:pt x="1956" y="8919"/>
                    <a:pt x="5437" y="5437"/>
                  </a:cubicBezTo>
                  <a:cubicBezTo>
                    <a:pt x="8919" y="1956"/>
                    <a:pt x="13641" y="0"/>
                    <a:pt x="18564" y="0"/>
                  </a:cubicBezTo>
                  <a:close/>
                </a:path>
              </a:pathLst>
            </a:custGeom>
            <a:ln w="38100" cap="sq">
              <a:solidFill>
                <a:srgbClr val="2D1C2C">
                  <a:alpha val="94902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196692" cy="5853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156988" y="6481183"/>
            <a:ext cx="8340564" cy="2077691"/>
            <a:chOff x="0" y="0"/>
            <a:chExt cx="2196692" cy="54721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96692" cy="547211"/>
            </a:xfrm>
            <a:custGeom>
              <a:avLst/>
              <a:gdLst/>
              <a:ahLst/>
              <a:cxnLst/>
              <a:rect l="l" t="t" r="r" b="b"/>
              <a:pathLst>
                <a:path w="2196692" h="547211">
                  <a:moveTo>
                    <a:pt x="18564" y="0"/>
                  </a:moveTo>
                  <a:lnTo>
                    <a:pt x="2178127" y="0"/>
                  </a:lnTo>
                  <a:cubicBezTo>
                    <a:pt x="2183051" y="0"/>
                    <a:pt x="2187773" y="1956"/>
                    <a:pt x="2191254" y="5437"/>
                  </a:cubicBezTo>
                  <a:cubicBezTo>
                    <a:pt x="2194736" y="8919"/>
                    <a:pt x="2196692" y="13641"/>
                    <a:pt x="2196692" y="18564"/>
                  </a:cubicBezTo>
                  <a:lnTo>
                    <a:pt x="2196692" y="528646"/>
                  </a:lnTo>
                  <a:cubicBezTo>
                    <a:pt x="2196692" y="533570"/>
                    <a:pt x="2194736" y="538292"/>
                    <a:pt x="2191254" y="541773"/>
                  </a:cubicBezTo>
                  <a:cubicBezTo>
                    <a:pt x="2187773" y="545255"/>
                    <a:pt x="2183051" y="547211"/>
                    <a:pt x="2178127" y="547211"/>
                  </a:cubicBezTo>
                  <a:lnTo>
                    <a:pt x="18564" y="547211"/>
                  </a:lnTo>
                  <a:cubicBezTo>
                    <a:pt x="13641" y="547211"/>
                    <a:pt x="8919" y="545255"/>
                    <a:pt x="5437" y="541773"/>
                  </a:cubicBezTo>
                  <a:cubicBezTo>
                    <a:pt x="1956" y="538292"/>
                    <a:pt x="0" y="533570"/>
                    <a:pt x="0" y="528646"/>
                  </a:cubicBezTo>
                  <a:lnTo>
                    <a:pt x="0" y="18564"/>
                  </a:lnTo>
                  <a:cubicBezTo>
                    <a:pt x="0" y="13641"/>
                    <a:pt x="1956" y="8919"/>
                    <a:pt x="5437" y="5437"/>
                  </a:cubicBezTo>
                  <a:cubicBezTo>
                    <a:pt x="8919" y="1956"/>
                    <a:pt x="13641" y="0"/>
                    <a:pt x="18564" y="0"/>
                  </a:cubicBezTo>
                  <a:close/>
                </a:path>
              </a:pathLst>
            </a:custGeom>
            <a:ln w="38100" cap="sq">
              <a:solidFill>
                <a:srgbClr val="2D1C2C">
                  <a:alpha val="94902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196692" cy="5853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 rot="8630430">
            <a:off x="-803373" y="-5308355"/>
            <a:ext cx="6091338" cy="10616711"/>
          </a:xfrm>
          <a:custGeom>
            <a:avLst/>
            <a:gdLst/>
            <a:ahLst/>
            <a:cxnLst/>
            <a:rect l="l" t="t" r="r" b="b"/>
            <a:pathLst>
              <a:path w="6091338" h="10616711">
                <a:moveTo>
                  <a:pt x="0" y="0"/>
                </a:moveTo>
                <a:lnTo>
                  <a:pt x="6091337" y="0"/>
                </a:lnTo>
                <a:lnTo>
                  <a:pt x="6091337" y="10616710"/>
                </a:lnTo>
                <a:lnTo>
                  <a:pt x="0" y="106167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13" name="TextBox 13"/>
          <p:cNvSpPr txBox="1"/>
          <p:nvPr/>
        </p:nvSpPr>
        <p:spPr>
          <a:xfrm>
            <a:off x="8458286" y="2579059"/>
            <a:ext cx="816981" cy="5282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57"/>
              </a:lnSpc>
            </a:pPr>
            <a:r>
              <a:rPr lang="en-US" sz="4473" spc="-22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01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58286" y="4956651"/>
            <a:ext cx="816981" cy="5282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57"/>
              </a:lnSpc>
            </a:pPr>
            <a:r>
              <a:rPr lang="en-US" sz="4473" spc="-22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458286" y="7332117"/>
            <a:ext cx="816981" cy="5282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57"/>
              </a:lnSpc>
            </a:pPr>
            <a:r>
              <a:rPr lang="en-US" sz="4473" spc="-22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03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387334" y="1948062"/>
            <a:ext cx="6819527" cy="1590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6"/>
              </a:lnSpc>
              <a:spcBef>
                <a:spcPct val="0"/>
              </a:spcBef>
            </a:pPr>
            <a:r>
              <a:rPr lang="en-US" sz="2268" spc="17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Lorem ipsum dolor sit amet, consectetur adipiscing elit. Sed eget lorem ac nibh auctor euismod. Duis malesuada, mi a vehicula vehicula, quam nisl fringilla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387334" y="4325653"/>
            <a:ext cx="6819527" cy="1590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6"/>
              </a:lnSpc>
              <a:spcBef>
                <a:spcPct val="0"/>
              </a:spcBef>
            </a:pPr>
            <a:r>
              <a:rPr lang="en-US" sz="2268" spc="17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Lorem ipsum dolor sit amet, consectetur adipiscing elit. Sed eget lorem ac nibh auctor euismod. Duis malesuada, mi a vehicula vehicula, quam nisl fringilla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387334" y="6701119"/>
            <a:ext cx="6819527" cy="1590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6"/>
              </a:lnSpc>
              <a:spcBef>
                <a:spcPct val="0"/>
              </a:spcBef>
            </a:pPr>
            <a:r>
              <a:rPr lang="en-US" sz="2268" spc="17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Lorem ipsum dolor sit amet, consectetur adipiscing elit. Sed eget lorem ac nibh auctor euismod. Duis malesuada, mi a vehicula vehicula, quam nisl fringilla </a:t>
            </a:r>
          </a:p>
        </p:txBody>
      </p:sp>
      <p:sp>
        <p:nvSpPr>
          <p:cNvPr id="19" name="Freeform 19"/>
          <p:cNvSpPr/>
          <p:nvPr/>
        </p:nvSpPr>
        <p:spPr>
          <a:xfrm>
            <a:off x="16206861" y="657383"/>
            <a:ext cx="1485268" cy="742634"/>
          </a:xfrm>
          <a:custGeom>
            <a:avLst/>
            <a:gdLst/>
            <a:ahLst/>
            <a:cxnLst/>
            <a:rect l="l" t="t" r="r" b="b"/>
            <a:pathLst>
              <a:path w="1485268" h="742634">
                <a:moveTo>
                  <a:pt x="0" y="0"/>
                </a:moveTo>
                <a:lnTo>
                  <a:pt x="1485268" y="0"/>
                </a:lnTo>
                <a:lnTo>
                  <a:pt x="1485268" y="742634"/>
                </a:lnTo>
                <a:lnTo>
                  <a:pt x="0" y="7426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31770" y="4807766"/>
            <a:ext cx="6150354" cy="5707316"/>
            <a:chOff x="0" y="0"/>
            <a:chExt cx="926898" cy="86012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6898" cy="860129"/>
            </a:xfrm>
            <a:custGeom>
              <a:avLst/>
              <a:gdLst/>
              <a:ahLst/>
              <a:cxnLst/>
              <a:rect l="l" t="t" r="r" b="b"/>
              <a:pathLst>
                <a:path w="926898" h="860129">
                  <a:moveTo>
                    <a:pt x="28952" y="0"/>
                  </a:moveTo>
                  <a:lnTo>
                    <a:pt x="897946" y="0"/>
                  </a:lnTo>
                  <a:cubicBezTo>
                    <a:pt x="913936" y="0"/>
                    <a:pt x="926898" y="12962"/>
                    <a:pt x="926898" y="28952"/>
                  </a:cubicBezTo>
                  <a:lnTo>
                    <a:pt x="926898" y="831177"/>
                  </a:lnTo>
                  <a:cubicBezTo>
                    <a:pt x="926898" y="838856"/>
                    <a:pt x="923848" y="846220"/>
                    <a:pt x="918418" y="851649"/>
                  </a:cubicBezTo>
                  <a:cubicBezTo>
                    <a:pt x="912989" y="857079"/>
                    <a:pt x="905625" y="860129"/>
                    <a:pt x="897946" y="860129"/>
                  </a:cubicBezTo>
                  <a:lnTo>
                    <a:pt x="28952" y="860129"/>
                  </a:lnTo>
                  <a:cubicBezTo>
                    <a:pt x="12962" y="860129"/>
                    <a:pt x="0" y="847167"/>
                    <a:pt x="0" y="831177"/>
                  </a:cubicBezTo>
                  <a:lnTo>
                    <a:pt x="0" y="28952"/>
                  </a:lnTo>
                  <a:cubicBezTo>
                    <a:pt x="0" y="12962"/>
                    <a:pt x="12962" y="0"/>
                    <a:pt x="28952" y="0"/>
                  </a:cubicBezTo>
                  <a:close/>
                </a:path>
              </a:pathLst>
            </a:custGeom>
            <a:blipFill>
              <a:blip r:embed="rId2"/>
              <a:stretch>
                <a:fillRect t="-21841" b="-21841"/>
              </a:stretch>
            </a:blipFill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9018810" y="2326139"/>
            <a:ext cx="7482057" cy="1998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 spc="18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Lorem ipsum dolor sit amet, consectetur adipiscing elit. Sed eget lorem ac nibh auctor euismod. Duis malesuada, mi a vehicula vehicula, quam nisl fringilla neque, vel tristique orci nisl sed diam. Ut lacinia ante in porta laoreet.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678522" y="1697441"/>
            <a:ext cx="6882584" cy="505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0987" lvl="1" indent="-320493" algn="l">
              <a:lnSpc>
                <a:spcPts val="4156"/>
              </a:lnSpc>
              <a:buFont typeface="Arial"/>
              <a:buChar char="•"/>
            </a:pPr>
            <a:r>
              <a:rPr lang="en-US" sz="2968" b="1" spc="234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TOOLS USED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018810" y="6287948"/>
            <a:ext cx="7482057" cy="1998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 spc="18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Lorem ipsum dolor sit amet, consectetur adipiscing elit. Sed eget lorem ac nibh auctor euismod. Duis malesuada, mi a vehicula vehicula, quam nisl fringilla neque, vel tristique orci nisl sed diam. Ut lacinia ante in porta laoreet.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678522" y="5621150"/>
            <a:ext cx="6882584" cy="505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0987" lvl="1" indent="-320493" algn="l">
              <a:lnSpc>
                <a:spcPts val="4156"/>
              </a:lnSpc>
              <a:buFont typeface="Arial"/>
              <a:buChar char="•"/>
            </a:pPr>
            <a:r>
              <a:rPr lang="en-US" sz="2968" b="1" spc="234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SUPPORTING MATERIALS</a:t>
            </a:r>
          </a:p>
        </p:txBody>
      </p:sp>
      <p:sp>
        <p:nvSpPr>
          <p:cNvPr id="8" name="Freeform 8"/>
          <p:cNvSpPr/>
          <p:nvPr/>
        </p:nvSpPr>
        <p:spPr>
          <a:xfrm>
            <a:off x="14229438" y="-1300101"/>
            <a:ext cx="8117125" cy="7645199"/>
          </a:xfrm>
          <a:custGeom>
            <a:avLst/>
            <a:gdLst/>
            <a:ahLst/>
            <a:cxnLst/>
            <a:rect l="l" t="t" r="r" b="b"/>
            <a:pathLst>
              <a:path w="8117125" h="7645199">
                <a:moveTo>
                  <a:pt x="0" y="0"/>
                </a:moveTo>
                <a:lnTo>
                  <a:pt x="8117124" y="0"/>
                </a:lnTo>
                <a:lnTo>
                  <a:pt x="8117124" y="7645199"/>
                </a:lnTo>
                <a:lnTo>
                  <a:pt x="0" y="76451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9" name="Freeform 9"/>
          <p:cNvSpPr/>
          <p:nvPr/>
        </p:nvSpPr>
        <p:spPr>
          <a:xfrm rot="5400000">
            <a:off x="657383" y="944046"/>
            <a:ext cx="1485268" cy="742634"/>
          </a:xfrm>
          <a:custGeom>
            <a:avLst/>
            <a:gdLst/>
            <a:ahLst/>
            <a:cxnLst/>
            <a:rect l="l" t="t" r="r" b="b"/>
            <a:pathLst>
              <a:path w="1485268" h="742634">
                <a:moveTo>
                  <a:pt x="0" y="0"/>
                </a:moveTo>
                <a:lnTo>
                  <a:pt x="1485268" y="0"/>
                </a:lnTo>
                <a:lnTo>
                  <a:pt x="1485268" y="742634"/>
                </a:lnTo>
                <a:lnTo>
                  <a:pt x="0" y="7426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10" name="TextBox 10"/>
          <p:cNvSpPr txBox="1"/>
          <p:nvPr/>
        </p:nvSpPr>
        <p:spPr>
          <a:xfrm>
            <a:off x="1771334" y="734654"/>
            <a:ext cx="7882090" cy="534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864"/>
              </a:lnSpc>
            </a:pPr>
            <a:r>
              <a:rPr lang="en-US" sz="4600" spc="-23">
                <a:solidFill>
                  <a:srgbClr val="2D1C2C"/>
                </a:solidFill>
                <a:latin typeface="Anton"/>
                <a:ea typeface="Anton"/>
                <a:cs typeface="Anton"/>
                <a:sym typeface="Anton"/>
              </a:rPr>
              <a:t>Feature 1 — Trusted student forum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31770" y="4807766"/>
            <a:ext cx="6150354" cy="5707316"/>
            <a:chOff x="0" y="0"/>
            <a:chExt cx="926898" cy="86012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6898" cy="860129"/>
            </a:xfrm>
            <a:custGeom>
              <a:avLst/>
              <a:gdLst/>
              <a:ahLst/>
              <a:cxnLst/>
              <a:rect l="l" t="t" r="r" b="b"/>
              <a:pathLst>
                <a:path w="926898" h="860129">
                  <a:moveTo>
                    <a:pt x="28952" y="0"/>
                  </a:moveTo>
                  <a:lnTo>
                    <a:pt x="897946" y="0"/>
                  </a:lnTo>
                  <a:cubicBezTo>
                    <a:pt x="913936" y="0"/>
                    <a:pt x="926898" y="12962"/>
                    <a:pt x="926898" y="28952"/>
                  </a:cubicBezTo>
                  <a:lnTo>
                    <a:pt x="926898" y="831177"/>
                  </a:lnTo>
                  <a:cubicBezTo>
                    <a:pt x="926898" y="838856"/>
                    <a:pt x="923848" y="846220"/>
                    <a:pt x="918418" y="851649"/>
                  </a:cubicBezTo>
                  <a:cubicBezTo>
                    <a:pt x="912989" y="857079"/>
                    <a:pt x="905625" y="860129"/>
                    <a:pt x="897946" y="860129"/>
                  </a:cubicBezTo>
                  <a:lnTo>
                    <a:pt x="28952" y="860129"/>
                  </a:lnTo>
                  <a:cubicBezTo>
                    <a:pt x="12962" y="860129"/>
                    <a:pt x="0" y="847167"/>
                    <a:pt x="0" y="831177"/>
                  </a:cubicBezTo>
                  <a:lnTo>
                    <a:pt x="0" y="28952"/>
                  </a:lnTo>
                  <a:cubicBezTo>
                    <a:pt x="0" y="12962"/>
                    <a:pt x="12962" y="0"/>
                    <a:pt x="28952" y="0"/>
                  </a:cubicBezTo>
                  <a:close/>
                </a:path>
              </a:pathLst>
            </a:custGeom>
            <a:blipFill>
              <a:blip r:embed="rId2"/>
              <a:stretch>
                <a:fillRect t="-21841" b="-21841"/>
              </a:stretch>
            </a:blipFill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9018810" y="2326139"/>
            <a:ext cx="7482057" cy="1998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 spc="18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Lorem ipsum dolor sit amet, consectetur adipiscing elit. Sed eget lorem ac nibh auctor euismod. Duis malesuada, mi a vehicula vehicula, quam nisl fringilla neque, vel tristique orci nisl sed diam. Ut lacinia ante in porta laoreet.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678522" y="1697441"/>
            <a:ext cx="6882584" cy="505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0987" lvl="1" indent="-320493" algn="l">
              <a:lnSpc>
                <a:spcPts val="4156"/>
              </a:lnSpc>
              <a:buFont typeface="Arial"/>
              <a:buChar char="•"/>
            </a:pPr>
            <a:r>
              <a:rPr lang="en-US" sz="2968" b="1" spc="234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TOOLS USED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018810" y="6287948"/>
            <a:ext cx="7482057" cy="1998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 spc="18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Lorem ipsum dolor sit amet, consectetur adipiscing elit. Sed eget lorem ac nibh auctor euismod. Duis malesuada, mi a vehicula vehicula, quam nisl fringilla neque, vel tristique orci nisl sed diam. Ut lacinia ante in porta laoreet.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678522" y="5621150"/>
            <a:ext cx="6882584" cy="505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0987" lvl="1" indent="-320493" algn="l">
              <a:lnSpc>
                <a:spcPts val="4156"/>
              </a:lnSpc>
              <a:buFont typeface="Arial"/>
              <a:buChar char="•"/>
            </a:pPr>
            <a:r>
              <a:rPr lang="en-US" sz="2968" b="1" spc="234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SUPPORTING MATERIALS</a:t>
            </a:r>
          </a:p>
        </p:txBody>
      </p:sp>
      <p:sp>
        <p:nvSpPr>
          <p:cNvPr id="8" name="Freeform 8"/>
          <p:cNvSpPr/>
          <p:nvPr/>
        </p:nvSpPr>
        <p:spPr>
          <a:xfrm>
            <a:off x="14229438" y="-1300101"/>
            <a:ext cx="8117125" cy="7645199"/>
          </a:xfrm>
          <a:custGeom>
            <a:avLst/>
            <a:gdLst/>
            <a:ahLst/>
            <a:cxnLst/>
            <a:rect l="l" t="t" r="r" b="b"/>
            <a:pathLst>
              <a:path w="8117125" h="7645199">
                <a:moveTo>
                  <a:pt x="0" y="0"/>
                </a:moveTo>
                <a:lnTo>
                  <a:pt x="8117124" y="0"/>
                </a:lnTo>
                <a:lnTo>
                  <a:pt x="8117124" y="7645199"/>
                </a:lnTo>
                <a:lnTo>
                  <a:pt x="0" y="76451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9" name="Freeform 9"/>
          <p:cNvSpPr/>
          <p:nvPr/>
        </p:nvSpPr>
        <p:spPr>
          <a:xfrm rot="5400000">
            <a:off x="657383" y="944046"/>
            <a:ext cx="1485268" cy="742634"/>
          </a:xfrm>
          <a:custGeom>
            <a:avLst/>
            <a:gdLst/>
            <a:ahLst/>
            <a:cxnLst/>
            <a:rect l="l" t="t" r="r" b="b"/>
            <a:pathLst>
              <a:path w="1485268" h="742634">
                <a:moveTo>
                  <a:pt x="0" y="0"/>
                </a:moveTo>
                <a:lnTo>
                  <a:pt x="1485268" y="0"/>
                </a:lnTo>
                <a:lnTo>
                  <a:pt x="1485268" y="742634"/>
                </a:lnTo>
                <a:lnTo>
                  <a:pt x="0" y="7426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10" name="TextBox 10"/>
          <p:cNvSpPr txBox="1"/>
          <p:nvPr/>
        </p:nvSpPr>
        <p:spPr>
          <a:xfrm>
            <a:off x="1771334" y="734654"/>
            <a:ext cx="7432734" cy="534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864"/>
              </a:lnSpc>
            </a:pPr>
            <a:r>
              <a:rPr lang="en-US" sz="4600" spc="-23">
                <a:solidFill>
                  <a:srgbClr val="2D1C2C"/>
                </a:solidFill>
                <a:latin typeface="Anton"/>
                <a:ea typeface="Anton"/>
                <a:cs typeface="Anton"/>
                <a:sym typeface="Anton"/>
              </a:rPr>
              <a:t>Feature 2 — Community rewards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31770" y="4807766"/>
            <a:ext cx="6150354" cy="5707316"/>
            <a:chOff x="0" y="0"/>
            <a:chExt cx="926898" cy="86012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6898" cy="860129"/>
            </a:xfrm>
            <a:custGeom>
              <a:avLst/>
              <a:gdLst/>
              <a:ahLst/>
              <a:cxnLst/>
              <a:rect l="l" t="t" r="r" b="b"/>
              <a:pathLst>
                <a:path w="926898" h="860129">
                  <a:moveTo>
                    <a:pt x="28952" y="0"/>
                  </a:moveTo>
                  <a:lnTo>
                    <a:pt x="897946" y="0"/>
                  </a:lnTo>
                  <a:cubicBezTo>
                    <a:pt x="913936" y="0"/>
                    <a:pt x="926898" y="12962"/>
                    <a:pt x="926898" y="28952"/>
                  </a:cubicBezTo>
                  <a:lnTo>
                    <a:pt x="926898" y="831177"/>
                  </a:lnTo>
                  <a:cubicBezTo>
                    <a:pt x="926898" y="838856"/>
                    <a:pt x="923848" y="846220"/>
                    <a:pt x="918418" y="851649"/>
                  </a:cubicBezTo>
                  <a:cubicBezTo>
                    <a:pt x="912989" y="857079"/>
                    <a:pt x="905625" y="860129"/>
                    <a:pt x="897946" y="860129"/>
                  </a:cubicBezTo>
                  <a:lnTo>
                    <a:pt x="28952" y="860129"/>
                  </a:lnTo>
                  <a:cubicBezTo>
                    <a:pt x="12962" y="860129"/>
                    <a:pt x="0" y="847167"/>
                    <a:pt x="0" y="831177"/>
                  </a:cubicBezTo>
                  <a:lnTo>
                    <a:pt x="0" y="28952"/>
                  </a:lnTo>
                  <a:cubicBezTo>
                    <a:pt x="0" y="12962"/>
                    <a:pt x="12962" y="0"/>
                    <a:pt x="28952" y="0"/>
                  </a:cubicBezTo>
                  <a:close/>
                </a:path>
              </a:pathLst>
            </a:custGeom>
            <a:blipFill>
              <a:blip r:embed="rId2"/>
              <a:stretch>
                <a:fillRect t="-21841" b="-21841"/>
              </a:stretch>
            </a:blipFill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9018810" y="2326139"/>
            <a:ext cx="7482057" cy="1998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 spc="18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Lorem ipsum dolor sit amet, consectetur adipiscing elit. Sed eget lorem ac nibh auctor euismod. Duis malesuada, mi a vehicula vehicula, quam nisl fringilla neque, vel tristique orci nisl sed diam. Ut lacinia ante in porta laoreet.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678522" y="1697441"/>
            <a:ext cx="6882584" cy="505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0987" lvl="1" indent="-320493" algn="l">
              <a:lnSpc>
                <a:spcPts val="4156"/>
              </a:lnSpc>
              <a:buFont typeface="Arial"/>
              <a:buChar char="•"/>
            </a:pPr>
            <a:r>
              <a:rPr lang="en-US" sz="2968" b="1" spc="234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TOOLS USED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018810" y="6287948"/>
            <a:ext cx="7482057" cy="1998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 spc="18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Lorem ipsum dolor sit amet, consectetur adipiscing elit. Sed eget lorem ac nibh auctor euismod. Duis malesuada, mi a vehicula vehicula, quam nisl fringilla neque, vel tristique orci nisl sed diam. Ut lacinia ante in porta laoreet.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678522" y="5621150"/>
            <a:ext cx="6882584" cy="505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0987" lvl="1" indent="-320493" algn="l">
              <a:lnSpc>
                <a:spcPts val="4156"/>
              </a:lnSpc>
              <a:buFont typeface="Arial"/>
              <a:buChar char="•"/>
            </a:pPr>
            <a:r>
              <a:rPr lang="en-US" sz="2968" b="1" spc="234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SUPPORTING MATERIALS</a:t>
            </a:r>
          </a:p>
        </p:txBody>
      </p:sp>
      <p:sp>
        <p:nvSpPr>
          <p:cNvPr id="8" name="Freeform 8"/>
          <p:cNvSpPr/>
          <p:nvPr/>
        </p:nvSpPr>
        <p:spPr>
          <a:xfrm>
            <a:off x="14229438" y="-1300101"/>
            <a:ext cx="8117125" cy="7645199"/>
          </a:xfrm>
          <a:custGeom>
            <a:avLst/>
            <a:gdLst/>
            <a:ahLst/>
            <a:cxnLst/>
            <a:rect l="l" t="t" r="r" b="b"/>
            <a:pathLst>
              <a:path w="8117125" h="7645199">
                <a:moveTo>
                  <a:pt x="0" y="0"/>
                </a:moveTo>
                <a:lnTo>
                  <a:pt x="8117124" y="0"/>
                </a:lnTo>
                <a:lnTo>
                  <a:pt x="8117124" y="7645199"/>
                </a:lnTo>
                <a:lnTo>
                  <a:pt x="0" y="76451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9" name="Freeform 9"/>
          <p:cNvSpPr/>
          <p:nvPr/>
        </p:nvSpPr>
        <p:spPr>
          <a:xfrm rot="5400000">
            <a:off x="657383" y="944046"/>
            <a:ext cx="1485268" cy="742634"/>
          </a:xfrm>
          <a:custGeom>
            <a:avLst/>
            <a:gdLst/>
            <a:ahLst/>
            <a:cxnLst/>
            <a:rect l="l" t="t" r="r" b="b"/>
            <a:pathLst>
              <a:path w="1485268" h="742634">
                <a:moveTo>
                  <a:pt x="0" y="0"/>
                </a:moveTo>
                <a:lnTo>
                  <a:pt x="1485268" y="0"/>
                </a:lnTo>
                <a:lnTo>
                  <a:pt x="1485268" y="742634"/>
                </a:lnTo>
                <a:lnTo>
                  <a:pt x="0" y="7426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10" name="TextBox 10"/>
          <p:cNvSpPr txBox="1"/>
          <p:nvPr/>
        </p:nvSpPr>
        <p:spPr>
          <a:xfrm>
            <a:off x="1771334" y="734654"/>
            <a:ext cx="8331445" cy="534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864"/>
              </a:lnSpc>
            </a:pPr>
            <a:r>
              <a:rPr lang="en-US" sz="4600" spc="-23">
                <a:solidFill>
                  <a:srgbClr val="2D1C2C"/>
                </a:solidFill>
                <a:latin typeface="Anton"/>
                <a:ea typeface="Anton"/>
                <a:cs typeface="Anton"/>
                <a:sym typeface="Anton"/>
              </a:rPr>
              <a:t>Feature 3 — Events and connections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31770" y="4807766"/>
            <a:ext cx="6150354" cy="5707316"/>
            <a:chOff x="0" y="0"/>
            <a:chExt cx="926898" cy="86012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6898" cy="860129"/>
            </a:xfrm>
            <a:custGeom>
              <a:avLst/>
              <a:gdLst/>
              <a:ahLst/>
              <a:cxnLst/>
              <a:rect l="l" t="t" r="r" b="b"/>
              <a:pathLst>
                <a:path w="926898" h="860129">
                  <a:moveTo>
                    <a:pt x="28952" y="0"/>
                  </a:moveTo>
                  <a:lnTo>
                    <a:pt x="897946" y="0"/>
                  </a:lnTo>
                  <a:cubicBezTo>
                    <a:pt x="913936" y="0"/>
                    <a:pt x="926898" y="12962"/>
                    <a:pt x="926898" y="28952"/>
                  </a:cubicBezTo>
                  <a:lnTo>
                    <a:pt x="926898" y="831177"/>
                  </a:lnTo>
                  <a:cubicBezTo>
                    <a:pt x="926898" y="838856"/>
                    <a:pt x="923848" y="846220"/>
                    <a:pt x="918418" y="851649"/>
                  </a:cubicBezTo>
                  <a:cubicBezTo>
                    <a:pt x="912989" y="857079"/>
                    <a:pt x="905625" y="860129"/>
                    <a:pt x="897946" y="860129"/>
                  </a:cubicBezTo>
                  <a:lnTo>
                    <a:pt x="28952" y="860129"/>
                  </a:lnTo>
                  <a:cubicBezTo>
                    <a:pt x="12962" y="860129"/>
                    <a:pt x="0" y="847167"/>
                    <a:pt x="0" y="831177"/>
                  </a:cubicBezTo>
                  <a:lnTo>
                    <a:pt x="0" y="28952"/>
                  </a:lnTo>
                  <a:cubicBezTo>
                    <a:pt x="0" y="12962"/>
                    <a:pt x="12962" y="0"/>
                    <a:pt x="28952" y="0"/>
                  </a:cubicBezTo>
                  <a:close/>
                </a:path>
              </a:pathLst>
            </a:custGeom>
            <a:blipFill>
              <a:blip r:embed="rId2"/>
              <a:stretch>
                <a:fillRect t="-21841" b="-21841"/>
              </a:stretch>
            </a:blipFill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9018810" y="2326139"/>
            <a:ext cx="7482057" cy="1998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 spc="18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Lorem ipsum dolor sit amet, consectetur adipiscing elit. Sed eget lorem ac nibh auctor euismod. Duis malesuada, mi a vehicula vehicula, quam nisl fringilla neque, vel tristique orci nisl sed diam. Ut lacinia ante in porta laoreet.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678522" y="1697441"/>
            <a:ext cx="6882584" cy="505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0987" lvl="1" indent="-320493" algn="l">
              <a:lnSpc>
                <a:spcPts val="4156"/>
              </a:lnSpc>
              <a:buFont typeface="Arial"/>
              <a:buChar char="•"/>
            </a:pPr>
            <a:r>
              <a:rPr lang="en-US" sz="2968" b="1" spc="234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TOOLS USED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018810" y="6287948"/>
            <a:ext cx="7482057" cy="1998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 spc="18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Lorem ipsum dolor sit amet, consectetur adipiscing elit. Sed eget lorem ac nibh auctor euismod. Duis malesuada, mi a vehicula vehicula, quam nisl fringilla neque, vel tristique orci nisl sed diam. Ut lacinia ante in porta laoreet.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678522" y="5621150"/>
            <a:ext cx="6882584" cy="505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0987" lvl="1" indent="-320493" algn="l">
              <a:lnSpc>
                <a:spcPts val="4156"/>
              </a:lnSpc>
              <a:buFont typeface="Arial"/>
              <a:buChar char="•"/>
            </a:pPr>
            <a:r>
              <a:rPr lang="en-US" sz="2968" b="1" spc="234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SUPPORTING MATERIALS</a:t>
            </a:r>
          </a:p>
        </p:txBody>
      </p:sp>
      <p:sp>
        <p:nvSpPr>
          <p:cNvPr id="8" name="Freeform 8"/>
          <p:cNvSpPr/>
          <p:nvPr/>
        </p:nvSpPr>
        <p:spPr>
          <a:xfrm>
            <a:off x="14229438" y="-1300101"/>
            <a:ext cx="8117125" cy="7645199"/>
          </a:xfrm>
          <a:custGeom>
            <a:avLst/>
            <a:gdLst/>
            <a:ahLst/>
            <a:cxnLst/>
            <a:rect l="l" t="t" r="r" b="b"/>
            <a:pathLst>
              <a:path w="8117125" h="7645199">
                <a:moveTo>
                  <a:pt x="0" y="0"/>
                </a:moveTo>
                <a:lnTo>
                  <a:pt x="8117124" y="0"/>
                </a:lnTo>
                <a:lnTo>
                  <a:pt x="8117124" y="7645199"/>
                </a:lnTo>
                <a:lnTo>
                  <a:pt x="0" y="76451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9" name="Freeform 9"/>
          <p:cNvSpPr/>
          <p:nvPr/>
        </p:nvSpPr>
        <p:spPr>
          <a:xfrm rot="5400000">
            <a:off x="657383" y="944046"/>
            <a:ext cx="1485268" cy="742634"/>
          </a:xfrm>
          <a:custGeom>
            <a:avLst/>
            <a:gdLst/>
            <a:ahLst/>
            <a:cxnLst/>
            <a:rect l="l" t="t" r="r" b="b"/>
            <a:pathLst>
              <a:path w="1485268" h="742634">
                <a:moveTo>
                  <a:pt x="0" y="0"/>
                </a:moveTo>
                <a:lnTo>
                  <a:pt x="1485268" y="0"/>
                </a:lnTo>
                <a:lnTo>
                  <a:pt x="1485268" y="742634"/>
                </a:lnTo>
                <a:lnTo>
                  <a:pt x="0" y="7426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10" name="TextBox 10"/>
          <p:cNvSpPr txBox="1"/>
          <p:nvPr/>
        </p:nvSpPr>
        <p:spPr>
          <a:xfrm>
            <a:off x="1771334" y="734654"/>
            <a:ext cx="9647415" cy="534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864"/>
              </a:lnSpc>
            </a:pPr>
            <a:r>
              <a:rPr lang="en-US" sz="4600" spc="-23">
                <a:solidFill>
                  <a:srgbClr val="2D1C2C"/>
                </a:solidFill>
                <a:latin typeface="Anton"/>
                <a:ea typeface="Anton"/>
                <a:cs typeface="Anton"/>
                <a:sym typeface="Anton"/>
              </a:rPr>
              <a:t>Feature 4 — Personalised student profiles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31770" y="4807766"/>
            <a:ext cx="6150354" cy="5707316"/>
            <a:chOff x="0" y="0"/>
            <a:chExt cx="926898" cy="86012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6898" cy="860129"/>
            </a:xfrm>
            <a:custGeom>
              <a:avLst/>
              <a:gdLst/>
              <a:ahLst/>
              <a:cxnLst/>
              <a:rect l="l" t="t" r="r" b="b"/>
              <a:pathLst>
                <a:path w="926898" h="860129">
                  <a:moveTo>
                    <a:pt x="28952" y="0"/>
                  </a:moveTo>
                  <a:lnTo>
                    <a:pt x="897946" y="0"/>
                  </a:lnTo>
                  <a:cubicBezTo>
                    <a:pt x="913936" y="0"/>
                    <a:pt x="926898" y="12962"/>
                    <a:pt x="926898" y="28952"/>
                  </a:cubicBezTo>
                  <a:lnTo>
                    <a:pt x="926898" y="831177"/>
                  </a:lnTo>
                  <a:cubicBezTo>
                    <a:pt x="926898" y="838856"/>
                    <a:pt x="923848" y="846220"/>
                    <a:pt x="918418" y="851649"/>
                  </a:cubicBezTo>
                  <a:cubicBezTo>
                    <a:pt x="912989" y="857079"/>
                    <a:pt x="905625" y="860129"/>
                    <a:pt x="897946" y="860129"/>
                  </a:cubicBezTo>
                  <a:lnTo>
                    <a:pt x="28952" y="860129"/>
                  </a:lnTo>
                  <a:cubicBezTo>
                    <a:pt x="12962" y="860129"/>
                    <a:pt x="0" y="847167"/>
                    <a:pt x="0" y="831177"/>
                  </a:cubicBezTo>
                  <a:lnTo>
                    <a:pt x="0" y="28952"/>
                  </a:lnTo>
                  <a:cubicBezTo>
                    <a:pt x="0" y="12962"/>
                    <a:pt x="12962" y="0"/>
                    <a:pt x="28952" y="0"/>
                  </a:cubicBezTo>
                  <a:close/>
                </a:path>
              </a:pathLst>
            </a:custGeom>
            <a:blipFill>
              <a:blip r:embed="rId2"/>
              <a:stretch>
                <a:fillRect t="-21841" b="-21841"/>
              </a:stretch>
            </a:blipFill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9018810" y="2326139"/>
            <a:ext cx="7482057" cy="1998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 spc="18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Lorem ipsum dolor sit amet, consectetur adipiscing elit. Sed eget lorem ac nibh auctor euismod. Duis malesuada, mi a vehicula vehicula, quam nisl fringilla neque, vel tristique orci nisl sed diam. Ut lacinia ante in porta laoreet.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678522" y="1697441"/>
            <a:ext cx="6882584" cy="505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0987" lvl="1" indent="-320493" algn="l">
              <a:lnSpc>
                <a:spcPts val="4156"/>
              </a:lnSpc>
              <a:buFont typeface="Arial"/>
              <a:buChar char="•"/>
            </a:pPr>
            <a:r>
              <a:rPr lang="en-US" sz="2968" b="1" spc="234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TOOLS USED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018810" y="6287948"/>
            <a:ext cx="7482057" cy="1998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 spc="18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Lorem ipsum dolor sit amet, consectetur adipiscing elit. Sed eget lorem ac nibh auctor euismod. Duis malesuada, mi a vehicula vehicula, quam nisl fringilla neque, vel tristique orci nisl sed diam. Ut lacinia ante in porta laoreet.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678522" y="5621150"/>
            <a:ext cx="6882584" cy="505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0987" lvl="1" indent="-320493" algn="l">
              <a:lnSpc>
                <a:spcPts val="4156"/>
              </a:lnSpc>
              <a:buFont typeface="Arial"/>
              <a:buChar char="•"/>
            </a:pPr>
            <a:r>
              <a:rPr lang="en-US" sz="2968" b="1" spc="234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SUPPORTING MATERIALS</a:t>
            </a:r>
          </a:p>
        </p:txBody>
      </p:sp>
      <p:sp>
        <p:nvSpPr>
          <p:cNvPr id="8" name="Freeform 8"/>
          <p:cNvSpPr/>
          <p:nvPr/>
        </p:nvSpPr>
        <p:spPr>
          <a:xfrm>
            <a:off x="14229438" y="-1300101"/>
            <a:ext cx="8117125" cy="7645199"/>
          </a:xfrm>
          <a:custGeom>
            <a:avLst/>
            <a:gdLst/>
            <a:ahLst/>
            <a:cxnLst/>
            <a:rect l="l" t="t" r="r" b="b"/>
            <a:pathLst>
              <a:path w="8117125" h="7645199">
                <a:moveTo>
                  <a:pt x="0" y="0"/>
                </a:moveTo>
                <a:lnTo>
                  <a:pt x="8117124" y="0"/>
                </a:lnTo>
                <a:lnTo>
                  <a:pt x="8117124" y="7645199"/>
                </a:lnTo>
                <a:lnTo>
                  <a:pt x="0" y="76451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9" name="Freeform 9"/>
          <p:cNvSpPr/>
          <p:nvPr/>
        </p:nvSpPr>
        <p:spPr>
          <a:xfrm rot="5400000">
            <a:off x="657383" y="944046"/>
            <a:ext cx="1485268" cy="742634"/>
          </a:xfrm>
          <a:custGeom>
            <a:avLst/>
            <a:gdLst/>
            <a:ahLst/>
            <a:cxnLst/>
            <a:rect l="l" t="t" r="r" b="b"/>
            <a:pathLst>
              <a:path w="1485268" h="742634">
                <a:moveTo>
                  <a:pt x="0" y="0"/>
                </a:moveTo>
                <a:lnTo>
                  <a:pt x="1485268" y="0"/>
                </a:lnTo>
                <a:lnTo>
                  <a:pt x="1485268" y="742634"/>
                </a:lnTo>
                <a:lnTo>
                  <a:pt x="0" y="7426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10" name="TextBox 10"/>
          <p:cNvSpPr txBox="1"/>
          <p:nvPr/>
        </p:nvSpPr>
        <p:spPr>
          <a:xfrm>
            <a:off x="1771334" y="734654"/>
            <a:ext cx="7882090" cy="534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864"/>
              </a:lnSpc>
            </a:pPr>
            <a:r>
              <a:rPr lang="en-US" sz="4600" spc="-23">
                <a:solidFill>
                  <a:srgbClr val="2D1C2C"/>
                </a:solidFill>
                <a:latin typeface="Anton"/>
                <a:ea typeface="Anton"/>
                <a:cs typeface="Anton"/>
                <a:sym typeface="Anton"/>
              </a:rPr>
              <a:t>Feature 5 — Unified school tracker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941520">
            <a:off x="11322283" y="803563"/>
            <a:ext cx="7754479" cy="9951581"/>
          </a:xfrm>
          <a:custGeom>
            <a:avLst/>
            <a:gdLst/>
            <a:ahLst/>
            <a:cxnLst/>
            <a:rect l="l" t="t" r="r" b="b"/>
            <a:pathLst>
              <a:path w="7754479" h="9951581">
                <a:moveTo>
                  <a:pt x="0" y="0"/>
                </a:moveTo>
                <a:lnTo>
                  <a:pt x="7754479" y="0"/>
                </a:lnTo>
                <a:lnTo>
                  <a:pt x="7754479" y="9951581"/>
                </a:lnTo>
                <a:lnTo>
                  <a:pt x="0" y="99515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3" name="AutoShape 3"/>
          <p:cNvSpPr/>
          <p:nvPr/>
        </p:nvSpPr>
        <p:spPr>
          <a:xfrm flipV="1">
            <a:off x="1042819" y="9248775"/>
            <a:ext cx="16216481" cy="0"/>
          </a:xfrm>
          <a:prstGeom prst="line">
            <a:avLst/>
          </a:prstGeom>
          <a:ln w="28575" cap="flat">
            <a:solidFill>
              <a:srgbClr val="2D1C2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SG"/>
          </a:p>
        </p:txBody>
      </p:sp>
      <p:sp>
        <p:nvSpPr>
          <p:cNvPr id="4" name="Freeform 4"/>
          <p:cNvSpPr/>
          <p:nvPr/>
        </p:nvSpPr>
        <p:spPr>
          <a:xfrm>
            <a:off x="-3588392" y="-3290807"/>
            <a:ext cx="11717217" cy="11035983"/>
          </a:xfrm>
          <a:custGeom>
            <a:avLst/>
            <a:gdLst/>
            <a:ahLst/>
            <a:cxnLst/>
            <a:rect l="l" t="t" r="r" b="b"/>
            <a:pathLst>
              <a:path w="11717217" h="11035983">
                <a:moveTo>
                  <a:pt x="0" y="0"/>
                </a:moveTo>
                <a:lnTo>
                  <a:pt x="11717217" y="0"/>
                </a:lnTo>
                <a:lnTo>
                  <a:pt x="11717217" y="11035983"/>
                </a:lnTo>
                <a:lnTo>
                  <a:pt x="0" y="110359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5" name="TextBox 5"/>
          <p:cNvSpPr txBox="1"/>
          <p:nvPr/>
        </p:nvSpPr>
        <p:spPr>
          <a:xfrm>
            <a:off x="4502678" y="3197088"/>
            <a:ext cx="9282644" cy="411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25"/>
              </a:lnSpc>
            </a:pPr>
            <a:r>
              <a:rPr lang="en-US" sz="17250" spc="-86">
                <a:solidFill>
                  <a:srgbClr val="2D1C2C"/>
                </a:solidFill>
                <a:latin typeface="Anton"/>
                <a:ea typeface="Anton"/>
                <a:cs typeface="Anton"/>
                <a:sym typeface="Anton"/>
              </a:rPr>
              <a:t>Thank</a:t>
            </a:r>
          </a:p>
          <a:p>
            <a:pPr algn="ctr">
              <a:lnSpc>
                <a:spcPts val="15525"/>
              </a:lnSpc>
            </a:pPr>
            <a:r>
              <a:rPr lang="en-US" sz="17250" spc="-86">
                <a:solidFill>
                  <a:srgbClr val="2D1C2C"/>
                </a:solidFill>
                <a:latin typeface="Anton"/>
                <a:ea typeface="Anton"/>
                <a:cs typeface="Anton"/>
                <a:sym typeface="Anton"/>
              </a:rPr>
              <a:t>You</a:t>
            </a:r>
          </a:p>
        </p:txBody>
      </p:sp>
      <p:sp>
        <p:nvSpPr>
          <p:cNvPr id="6" name="Freeform 6"/>
          <p:cNvSpPr/>
          <p:nvPr/>
        </p:nvSpPr>
        <p:spPr>
          <a:xfrm>
            <a:off x="1028700" y="8240910"/>
            <a:ext cx="1485268" cy="742634"/>
          </a:xfrm>
          <a:custGeom>
            <a:avLst/>
            <a:gdLst/>
            <a:ahLst/>
            <a:cxnLst/>
            <a:rect l="l" t="t" r="r" b="b"/>
            <a:pathLst>
              <a:path w="1485268" h="742634">
                <a:moveTo>
                  <a:pt x="0" y="0"/>
                </a:moveTo>
                <a:lnTo>
                  <a:pt x="1485268" y="0"/>
                </a:lnTo>
                <a:lnTo>
                  <a:pt x="1485268" y="742634"/>
                </a:lnTo>
                <a:lnTo>
                  <a:pt x="0" y="7426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7" name="TextBox 7"/>
          <p:cNvSpPr txBox="1"/>
          <p:nvPr/>
        </p:nvSpPr>
        <p:spPr>
          <a:xfrm>
            <a:off x="1042819" y="9360315"/>
            <a:ext cx="3743213" cy="332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  <a:spcBef>
                <a:spcPct val="0"/>
              </a:spcBef>
            </a:pPr>
            <a:r>
              <a:rPr lang="en-US" sz="1928" b="1">
                <a:solidFill>
                  <a:srgbClr val="2D1C2C"/>
                </a:solidFill>
                <a:latin typeface="Lato Bold"/>
                <a:ea typeface="Lato Bold"/>
                <a:cs typeface="Lato Bold"/>
                <a:sym typeface="Lato Bold"/>
              </a:rPr>
              <a:t>www.reallygreatsite.com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187899" y="9360315"/>
            <a:ext cx="3586845" cy="322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95"/>
              </a:lnSpc>
              <a:spcBef>
                <a:spcPct val="0"/>
              </a:spcBef>
            </a:pPr>
            <a:r>
              <a:rPr lang="en-US" sz="1925" b="1">
                <a:solidFill>
                  <a:srgbClr val="2D1C2C"/>
                </a:solidFill>
                <a:latin typeface="Lato Bold"/>
                <a:ea typeface="Lato Bold"/>
                <a:cs typeface="Lato Bold"/>
                <a:sym typeface="Lato Bold"/>
              </a:rPr>
              <a:t>hello@reallygreatsite.com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109936" y="9360315"/>
            <a:ext cx="4179173" cy="322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95"/>
              </a:lnSpc>
              <a:spcBef>
                <a:spcPct val="0"/>
              </a:spcBef>
            </a:pPr>
            <a:r>
              <a:rPr lang="en-US" sz="1925" b="1">
                <a:solidFill>
                  <a:srgbClr val="2D1C2C"/>
                </a:solidFill>
                <a:latin typeface="Lato Bold"/>
                <a:ea typeface="Lato Bold"/>
                <a:cs typeface="Lato Bold"/>
                <a:sym typeface="Lato Bold"/>
              </a:rPr>
              <a:t>123 Anywhere Street., Any City</a:t>
            </a:r>
          </a:p>
        </p:txBody>
      </p:sp>
      <p:sp>
        <p:nvSpPr>
          <p:cNvPr id="10" name="Freeform 10"/>
          <p:cNvSpPr/>
          <p:nvPr/>
        </p:nvSpPr>
        <p:spPr>
          <a:xfrm>
            <a:off x="15774032" y="1028700"/>
            <a:ext cx="1485268" cy="742634"/>
          </a:xfrm>
          <a:custGeom>
            <a:avLst/>
            <a:gdLst/>
            <a:ahLst/>
            <a:cxnLst/>
            <a:rect l="l" t="t" r="r" b="b"/>
            <a:pathLst>
              <a:path w="1485268" h="742634">
                <a:moveTo>
                  <a:pt x="0" y="0"/>
                </a:moveTo>
                <a:lnTo>
                  <a:pt x="1485268" y="0"/>
                </a:lnTo>
                <a:lnTo>
                  <a:pt x="1485268" y="742634"/>
                </a:lnTo>
                <a:lnTo>
                  <a:pt x="0" y="7426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858</Words>
  <Application>Microsoft Office PowerPoint</Application>
  <PresentationFormat>Custom</PresentationFormat>
  <Paragraphs>57</Paragraphs>
  <Slides>11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Anton</vt:lpstr>
      <vt:lpstr>Lato Bold</vt:lpstr>
      <vt:lpstr>Lato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WDP_PROJECT</dc:title>
  <cp:lastModifiedBy>GAN ZHI YUN KYLIE</cp:lastModifiedBy>
  <cp:revision>2</cp:revision>
  <dcterms:created xsi:type="dcterms:W3CDTF">2006-08-16T00:00:00Z</dcterms:created>
  <dcterms:modified xsi:type="dcterms:W3CDTF">2026-10-23T11:55:36Z</dcterms:modified>
  <dc:identifier>DAHYzcWB0W0</dc:identifier>
</cp:coreProperties>
</file>